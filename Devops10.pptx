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71" r:id="rId4"/>
    <p:sldId id="257" r:id="rId5"/>
    <p:sldId id="272" r:id="rId6"/>
    <p:sldId id="260" r:id="rId7"/>
    <p:sldId id="258" r:id="rId8"/>
    <p:sldId id="264" r:id="rId9"/>
    <p:sldId id="259" r:id="rId10"/>
    <p:sldId id="262" r:id="rId11"/>
    <p:sldId id="263" r:id="rId12"/>
    <p:sldId id="270" r:id="rId13"/>
    <p:sldId id="266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  <a:endParaRPr lang="en-US" sz="8000" dirty="0">
              <a:solidFill>
                <a:schemeClr val="tx1"/>
              </a:solidFill>
              <a:effectLst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  <a:endParaRPr lang="en-US" sz="8000" dirty="0">
              <a:solidFill>
                <a:schemeClr val="tx1"/>
              </a:solidFill>
              <a:effectLst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C4DA41-6A26-44AF-92C8-5086E9139D35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79156B-4118-4763-8E98-A6942492D06C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782" y="412317"/>
            <a:ext cx="5743254" cy="3062368"/>
          </a:xfrm>
        </p:spPr>
        <p:txBody>
          <a:bodyPr>
            <a:normAutofit fontScale="90000"/>
          </a:bodyPr>
          <a:lstStyle/>
          <a:p>
            <a:r>
              <a:rPr lang="en-IN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DevOps </a:t>
            </a:r>
            <a:br>
              <a:rPr lang="en-IN" b="1" dirty="0"/>
            </a:br>
            <a:r>
              <a:rPr lang="en-IN" b="1" dirty="0"/>
              <a:t>Configuration </a:t>
            </a:r>
            <a:br>
              <a:rPr lang="en-IN" b="1" dirty="0"/>
            </a:br>
            <a:r>
              <a:rPr lang="en-IN" b="1" dirty="0"/>
              <a:t>Management  Tools</a:t>
            </a:r>
            <a:br>
              <a:rPr lang="en-IN" dirty="0"/>
            </a:br>
            <a:endParaRPr lang="en-IN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7919" y="529811"/>
            <a:ext cx="5357796" cy="32510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7" name="TextBox 6"/>
          <p:cNvSpPr txBox="1"/>
          <p:nvPr/>
        </p:nvSpPr>
        <p:spPr>
          <a:xfrm>
            <a:off x="652410" y="4190261"/>
            <a:ext cx="5157626" cy="1630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Presented By</a:t>
            </a:r>
            <a:r>
              <a:rPr lang="en-IN" sz="2000" dirty="0"/>
              <a:t>:</a:t>
            </a:r>
            <a:endParaRPr lang="en-IN" sz="2000" dirty="0"/>
          </a:p>
          <a:p>
            <a:r>
              <a:rPr lang="en-IN" sz="2000" dirty="0"/>
              <a:t>2251053  Avirup Das</a:t>
            </a:r>
            <a:endParaRPr lang="en-IN" sz="2000" dirty="0"/>
          </a:p>
          <a:p>
            <a:r>
              <a:rPr lang="en-IN" sz="2000" dirty="0"/>
              <a:t>2251188  Arpita Nath</a:t>
            </a:r>
            <a:endParaRPr lang="en-IN" sz="2000" dirty="0"/>
          </a:p>
          <a:p>
            <a:r>
              <a:rPr lang="en-IN" sz="2000" dirty="0"/>
              <a:t>2251198  Abhijit Ghosh</a:t>
            </a:r>
            <a:endParaRPr lang="en-IN" sz="2000" dirty="0"/>
          </a:p>
          <a:p>
            <a:r>
              <a:rPr lang="en-IN" sz="2000" dirty="0"/>
              <a:t>2251243  Rahit Saha</a:t>
            </a:r>
            <a:endParaRPr lang="en-IN" sz="2000" dirty="0"/>
          </a:p>
        </p:txBody>
      </p:sp>
      <p:sp>
        <p:nvSpPr>
          <p:cNvPr id="8" name="TextBox 7"/>
          <p:cNvSpPr txBox="1"/>
          <p:nvPr/>
        </p:nvSpPr>
        <p:spPr>
          <a:xfrm>
            <a:off x="662684" y="5821477"/>
            <a:ext cx="3395608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Presented On 10/03/2025</a:t>
            </a:r>
            <a:endParaRPr lang="en-IN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5"/>
                </a:solidFill>
              </a:rPr>
              <a:t>Topics to BE COVERED HERE…</a:t>
            </a:r>
            <a:endParaRPr lang="en-IN" dirty="0">
              <a:solidFill>
                <a:schemeClr val="accent5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3795" y="2096064"/>
            <a:ext cx="10353762" cy="4152336"/>
          </a:xfrm>
        </p:spPr>
        <p:txBody>
          <a:bodyPr>
            <a:normAutofit fontScale="92500" lnSpcReduction="20000"/>
          </a:bodyPr>
          <a:lstStyle/>
          <a:p>
            <a:r>
              <a:rPr lang="en-IN" dirty="0"/>
              <a:t>Introduction to DevOps</a:t>
            </a:r>
            <a:endParaRPr lang="en-IN" dirty="0"/>
          </a:p>
          <a:p>
            <a:r>
              <a:rPr lang="en-IN" dirty="0"/>
              <a:t>Infrastructure as Code Vs Configuration as Code</a:t>
            </a:r>
            <a:endParaRPr lang="en-IN" dirty="0"/>
          </a:p>
          <a:p>
            <a:r>
              <a:rPr lang="en-IN" dirty="0"/>
              <a:t>What is Configuration Management Tool</a:t>
            </a:r>
            <a:endParaRPr lang="en-IN" dirty="0"/>
          </a:p>
          <a:p>
            <a:r>
              <a:rPr lang="en-IN" dirty="0"/>
              <a:t>Importance of Configuration Management in </a:t>
            </a:r>
            <a:r>
              <a:rPr lang="en-IN" dirty="0" err="1"/>
              <a:t>Devops</a:t>
            </a:r>
            <a:endParaRPr lang="en-IN" dirty="0"/>
          </a:p>
          <a:p>
            <a:r>
              <a:rPr lang="en-IN" dirty="0"/>
              <a:t>Popular DevOps Configuration Management Tools</a:t>
            </a:r>
            <a:endParaRPr lang="en-IN" dirty="0"/>
          </a:p>
          <a:p>
            <a:r>
              <a:rPr lang="en-IN" dirty="0"/>
              <a:t>Configuration Management As Code</a:t>
            </a:r>
            <a:endParaRPr lang="en-IN" dirty="0"/>
          </a:p>
          <a:p>
            <a:r>
              <a:rPr lang="en-IN" dirty="0"/>
              <a:t>Chef-Architecture or Process</a:t>
            </a:r>
            <a:endParaRPr lang="en-IN" dirty="0"/>
          </a:p>
          <a:p>
            <a:r>
              <a:rPr lang="en-IN" dirty="0"/>
              <a:t>Ansible-Architecture or Process</a:t>
            </a:r>
            <a:endParaRPr lang="en-IN" dirty="0"/>
          </a:p>
          <a:p>
            <a:r>
              <a:rPr lang="en-IN" dirty="0"/>
              <a:t>Use Cases</a:t>
            </a:r>
            <a:endParaRPr lang="en-IN" dirty="0"/>
          </a:p>
          <a:p>
            <a:r>
              <a:rPr lang="en-IN" dirty="0"/>
              <a:t>Conclusion</a:t>
            </a:r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791111"/>
            <a:ext cx="10515600" cy="1715784"/>
          </a:xfrm>
        </p:spPr>
        <p:txBody>
          <a:bodyPr>
            <a:normAutofit/>
          </a:bodyPr>
          <a:lstStyle/>
          <a:p>
            <a:r>
              <a:rPr lang="en-IN" sz="4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Introduction to DevOps</a:t>
            </a:r>
            <a:endParaRPr lang="en-IN" sz="44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020601"/>
            <a:ext cx="6384532" cy="2250041"/>
          </a:xfrm>
        </p:spPr>
        <p:txBody>
          <a:bodyPr>
            <a:normAutofit/>
          </a:bodyPr>
          <a:lstStyle/>
          <a:p>
            <a:r>
              <a:rPr lang="en-US" dirty="0"/>
              <a:t>DevOps combines development and operations</a:t>
            </a:r>
            <a:endParaRPr lang="en-US" dirty="0"/>
          </a:p>
          <a:p>
            <a:r>
              <a:rPr lang="en-IN" dirty="0"/>
              <a:t>Focuses on automation, collaboration, and continuous integration/continuous deployment (CI/CD)</a:t>
            </a:r>
            <a:endParaRPr lang="en-IN" dirty="0"/>
          </a:p>
          <a:p>
            <a:r>
              <a:rPr lang="en-US" dirty="0"/>
              <a:t>Enhances software development lifecycle (SDLC)</a:t>
            </a:r>
            <a:endParaRPr lang="en-US" dirty="0"/>
          </a:p>
          <a:p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8072" y="2815120"/>
            <a:ext cx="4592548" cy="2681554"/>
          </a:xfrm>
          <a:prstGeom prst="rect">
            <a:avLst/>
          </a:prstGeom>
          <a:ln w="190500" cap="sq">
            <a:solidFill>
              <a:srgbClr val="C8C6BD"/>
            </a:solidFill>
            <a:prstDash val="solid"/>
            <a:miter lim="800000"/>
            <a:headEnd/>
            <a:tailEnd/>
          </a:ln>
          <a:effectLst>
            <a:outerShdw blurRad="254000" algn="bl" rotWithShape="0">
              <a:srgbClr val="000000">
                <a:alpha val="43000"/>
              </a:srgbClr>
            </a:outerShdw>
          </a:effectLst>
          <a:scene3d>
            <a:camera prst="perspectiveFront" fov="5400000"/>
            <a:lightRig rig="threePt" dir="t">
              <a:rot lat="0" lon="0" rev="21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Infrastructure as Code Vs Configuration as Code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42568" y="2732925"/>
            <a:ext cx="3298609" cy="3030877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dirty="0"/>
              <a:t>Purpose</a:t>
            </a:r>
            <a:endParaRPr lang="en-IN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dirty="0"/>
              <a:t>Scope</a:t>
            </a:r>
            <a:endParaRPr lang="en-IN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/>
              <a:t>Action</a:t>
            </a:r>
            <a:endParaRPr lang="en-IN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dirty="0"/>
              <a:t>Tools</a:t>
            </a:r>
            <a:endParaRPr lang="en-IN" sz="2000" dirty="0"/>
          </a:p>
        </p:txBody>
      </p:sp>
      <p:pic>
        <p:nvPicPr>
          <p:cNvPr id="4" name="Content Placeholder 3"/>
          <p:cNvPicPr>
            <a:picLocks noGrp="1"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6777" y="2267862"/>
            <a:ext cx="5480779" cy="365791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What is Configuration Management?</a:t>
            </a:r>
            <a:endParaRPr lang="en-IN" sz="44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4637" y="2253591"/>
            <a:ext cx="445299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Configuration Management is a process that helps manage and track changes to software, hardware, and infrastructure.</a:t>
            </a:r>
            <a:endParaRPr lang="en-IN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2782" y="2393880"/>
            <a:ext cx="5506357" cy="349540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  <a:headEnd/>
            <a:tailEnd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81038"/>
            <a:ext cx="10515600" cy="1325563"/>
          </a:xfrm>
        </p:spPr>
        <p:txBody>
          <a:bodyPr>
            <a:normAutofit/>
          </a:bodyPr>
          <a:lstStyle/>
          <a:p>
            <a:r>
              <a:rPr lang="en-US" sz="4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Importance of Configuration Management in DevOps</a:t>
            </a:r>
            <a:endParaRPr lang="en-IN" sz="44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383603"/>
            <a:ext cx="10515600" cy="3793359"/>
          </a:xfrm>
        </p:spPr>
        <p:txBody>
          <a:bodyPr/>
          <a:lstStyle/>
          <a:p>
            <a:r>
              <a:rPr lang="en-US" dirty="0"/>
              <a:t>Version Control</a:t>
            </a:r>
            <a:endParaRPr lang="en-US" dirty="0"/>
          </a:p>
          <a:p>
            <a:r>
              <a:rPr lang="en-IN" dirty="0"/>
              <a:t>Infrastructure as Code (</a:t>
            </a:r>
            <a:r>
              <a:rPr lang="en-IN" dirty="0" err="1"/>
              <a:t>IaC</a:t>
            </a:r>
            <a:r>
              <a:rPr lang="en-IN" dirty="0"/>
              <a:t>)</a:t>
            </a:r>
            <a:endParaRPr lang="en-US" dirty="0"/>
          </a:p>
          <a:p>
            <a:r>
              <a:rPr lang="en-IN" dirty="0"/>
              <a:t>Automated Provisioning</a:t>
            </a:r>
            <a:endParaRPr lang="en-IN" dirty="0"/>
          </a:p>
          <a:p>
            <a:r>
              <a:rPr lang="en-IN" dirty="0"/>
              <a:t>Application Configuration</a:t>
            </a:r>
            <a:endParaRPr lang="en-IN" dirty="0"/>
          </a:p>
          <a:p>
            <a:r>
              <a:rPr lang="en-IN" dirty="0"/>
              <a:t>Automated Deployment</a:t>
            </a:r>
            <a:endParaRPr lang="en-IN" dirty="0"/>
          </a:p>
          <a:p>
            <a:r>
              <a:rPr lang="en-IN" dirty="0"/>
              <a:t>Environment Management</a:t>
            </a:r>
            <a:endParaRPr lang="en-IN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905162" cy="1325563"/>
          </a:xfrm>
        </p:spPr>
        <p:txBody>
          <a:bodyPr>
            <a:normAutofit/>
          </a:bodyPr>
          <a:lstStyle/>
          <a:p>
            <a:r>
              <a:rPr lang="en-IN" sz="4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Popular DevOps Configuration Management Tools</a:t>
            </a:r>
            <a:endParaRPr lang="en-IN" sz="44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55090"/>
            <a:ext cx="4391346" cy="2756649"/>
          </a:xfrm>
        </p:spPr>
        <p:txBody>
          <a:bodyPr/>
          <a:lstStyle/>
          <a:p>
            <a:r>
              <a:rPr lang="en-IN" sz="2800" dirty="0"/>
              <a:t>Ansible</a:t>
            </a:r>
            <a:endParaRPr lang="en-IN" sz="2800" dirty="0"/>
          </a:p>
          <a:p>
            <a:r>
              <a:rPr lang="en-IN" sz="2800" dirty="0"/>
              <a:t>Puppet</a:t>
            </a:r>
            <a:endParaRPr lang="en-IN" sz="2800" dirty="0"/>
          </a:p>
          <a:p>
            <a:r>
              <a:rPr lang="en-IN" sz="2800" dirty="0"/>
              <a:t>Chef</a:t>
            </a:r>
            <a:endParaRPr lang="en-IN" sz="2800" dirty="0"/>
          </a:p>
          <a:p>
            <a:r>
              <a:rPr lang="en-IN" sz="2800" dirty="0"/>
              <a:t>Salt Stack</a:t>
            </a:r>
            <a:endParaRPr lang="en-IN" sz="2800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4755" y="2260315"/>
            <a:ext cx="5260369" cy="3565132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  <a:headEnd/>
            <a:tailEnd/>
          </a:ln>
          <a:effectLst>
            <a:innerShdw blurRad="76200">
              <a:srgbClr val="000000"/>
            </a:inn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Configuration Management as Code</a:t>
            </a:r>
            <a:endParaRPr lang="en-IN" sz="44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929116"/>
            <a:ext cx="3832260" cy="2382624"/>
          </a:xfrm>
        </p:spPr>
        <p:txBody>
          <a:bodyPr/>
          <a:lstStyle/>
          <a:p>
            <a:r>
              <a:rPr lang="en-IN" dirty="0"/>
              <a:t>Pull Based - Chef , puppet</a:t>
            </a:r>
            <a:endParaRPr lang="en-IN" dirty="0"/>
          </a:p>
          <a:p>
            <a:r>
              <a:rPr lang="en-IN" dirty="0"/>
              <a:t>Push Based - Ansible, Salt Stack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2966" y="2363058"/>
            <a:ext cx="6592584" cy="3791164"/>
          </a:xfrm>
          <a:prstGeom prst="rect">
            <a:avLst/>
          </a:prstGeom>
          <a:ln w="190500" cap="sq">
            <a:solidFill>
              <a:srgbClr val="C8C6BD"/>
            </a:solidFill>
            <a:prstDash val="solid"/>
            <a:miter lim="800000"/>
            <a:headEnd/>
            <a:tailEnd/>
          </a:ln>
          <a:effectLst>
            <a:outerShdw blurRad="254000" algn="bl" rotWithShape="0">
              <a:srgbClr val="000000">
                <a:alpha val="43000"/>
              </a:srgbClr>
            </a:outerShdw>
          </a:effectLst>
          <a:scene3d>
            <a:camera prst="perspectiveFront" fov="5400000"/>
            <a:lightRig rig="threePt" dir="t">
              <a:rot lat="0" lon="0" rev="21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Chef - Architecture or Process</a:t>
            </a:r>
            <a:endParaRPr lang="en-IN" sz="44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974165" y="2331805"/>
            <a:ext cx="6521823" cy="36957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  <a:headEnd/>
            <a:tailEnd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Ansible - Architecture or Process</a:t>
            </a:r>
            <a:endParaRPr lang="en-IN" sz="4400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476072" y="2229064"/>
            <a:ext cx="6976153" cy="392515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  <a:headEnd/>
            <a:tailEnd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Use Cases</a:t>
            </a:r>
            <a:endParaRPr lang="en-IN" sz="44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2492375"/>
            <a:ext cx="4678680" cy="388937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rmAutofit fontScale="25000" lnSpcReduction="20000"/>
          </a:bodyPr>
          <a:lstStyle/>
          <a:p>
            <a:r>
              <a:rPr lang="en-IN" sz="9600" dirty="0"/>
              <a:t>Push-Based Configuration</a:t>
            </a:r>
            <a:endParaRPr lang="en-IN" sz="9600" dirty="0"/>
          </a:p>
          <a:p>
            <a:pPr marL="1371600" lvl="2" indent="-457200">
              <a:buFont typeface="+mj-lt"/>
              <a:buAutoNum type="arabicPeriod"/>
            </a:pPr>
            <a:r>
              <a:rPr lang="en-IN" sz="7200" dirty="0"/>
              <a:t>Emergency Security Patches &amp; Critical Updates.</a:t>
            </a:r>
            <a:endParaRPr lang="en-IN" sz="7200" dirty="0"/>
          </a:p>
          <a:p>
            <a:pPr marL="1371600" lvl="2" indent="-457200">
              <a:buFont typeface="+mj-lt"/>
              <a:buAutoNum type="arabicPeriod"/>
            </a:pPr>
            <a:r>
              <a:rPr lang="en-IN" sz="7200" dirty="0"/>
              <a:t>Rapid Deployments in DevOps(CI/CD Pipelines).</a:t>
            </a:r>
            <a:endParaRPr lang="en-IN" sz="7200" dirty="0"/>
          </a:p>
          <a:p>
            <a:pPr marL="1371600" lvl="2" indent="-457200">
              <a:buFont typeface="+mj-lt"/>
              <a:buAutoNum type="arabicPeriod"/>
            </a:pPr>
            <a:r>
              <a:rPr lang="en-IN" sz="7200" dirty="0"/>
              <a:t>Managing Small-to-Medium Scale Infrastructure.</a:t>
            </a:r>
            <a:endParaRPr lang="en-IN" sz="7200" dirty="0"/>
          </a:p>
          <a:p>
            <a:pPr marL="1371600" lvl="2" indent="-457200">
              <a:buFont typeface="+mj-lt"/>
              <a:buAutoNum type="arabicPeriod"/>
            </a:pPr>
            <a:r>
              <a:rPr lang="en-IN" sz="7200" dirty="0"/>
              <a:t>One-Time or Ad-Hoc Configuration Changes.</a:t>
            </a:r>
            <a:endParaRPr lang="en-IN" sz="7200" dirty="0"/>
          </a:p>
          <a:p>
            <a:pPr marL="914400" lvl="2" indent="0">
              <a:buNone/>
            </a:pPr>
            <a:endParaRPr lang="en-IN" sz="3275" dirty="0"/>
          </a:p>
          <a:p>
            <a:pPr lvl="2"/>
            <a:endParaRPr lang="en-IN" sz="3275" dirty="0"/>
          </a:p>
          <a:p>
            <a:pPr marL="914400" lvl="2" indent="0">
              <a:buNone/>
            </a:pPr>
            <a:endParaRPr lang="en-IN" sz="3275" dirty="0"/>
          </a:p>
        </p:txBody>
      </p:sp>
      <p:sp>
        <p:nvSpPr>
          <p:cNvPr id="4" name="TextBox 3"/>
          <p:cNvSpPr txBox="1"/>
          <p:nvPr/>
        </p:nvSpPr>
        <p:spPr>
          <a:xfrm>
            <a:off x="6096000" y="2492375"/>
            <a:ext cx="4866005" cy="388958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Pull-based</a:t>
            </a:r>
            <a:r>
              <a:rPr lang="en-IN" sz="2400" dirty="0"/>
              <a:t> </a:t>
            </a:r>
            <a:r>
              <a:rPr lang="en-IN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Configuration</a:t>
            </a:r>
            <a:endParaRPr lang="en-IN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1371600" lvl="2" indent="-457200">
              <a:buFont typeface="+mj-lt"/>
              <a:buAutoNum type="arabicPeriod"/>
            </a:pPr>
            <a:r>
              <a:rPr lang="en-IN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Large-Scale Cloud Infrastructure(AWS, Azure, Google Cloud).</a:t>
            </a:r>
            <a:endParaRPr lang="en-IN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1371600" lvl="2" indent="-457200">
              <a:buFont typeface="+mj-lt"/>
              <a:buAutoNum type="arabicPeriod"/>
            </a:pPr>
            <a:r>
              <a:rPr lang="en-US" alt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Continuous Compliance &amp; Security Policy Enforcement</a:t>
            </a:r>
            <a:endParaRPr lang="en-IN" alt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1371600" lvl="2" indent="-457200">
              <a:buFont typeface="+mj-lt"/>
              <a:buAutoNum type="arabicPeriod"/>
            </a:pPr>
            <a:r>
              <a:rPr lang="en-US" alt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Auto-Scaling and Dynamic Infrastructure </a:t>
            </a:r>
            <a:r>
              <a:rPr lang="en-IN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</a:t>
            </a:r>
            <a:endParaRPr lang="en-IN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1371600" lvl="2" indent="-457200">
              <a:buFont typeface="+mj-lt"/>
              <a:buAutoNum type="arabicPeriod"/>
            </a:pPr>
            <a:r>
              <a:rPr lang="en-IN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Managing Remote and Occasionally Connected Servers.</a:t>
            </a:r>
            <a:endParaRPr lang="en-IN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81038"/>
            <a:ext cx="10515600" cy="1325563"/>
          </a:xfrm>
        </p:spPr>
        <p:txBody>
          <a:bodyPr>
            <a:normAutofit/>
          </a:bodyPr>
          <a:lstStyle/>
          <a:p>
            <a:r>
              <a:rPr lang="en-IN" sz="4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Conclusion</a:t>
            </a:r>
            <a:endParaRPr lang="en-IN" sz="44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030876"/>
            <a:ext cx="10515600" cy="2024009"/>
          </a:xfrm>
        </p:spPr>
        <p:txBody>
          <a:bodyPr/>
          <a:lstStyle/>
          <a:p>
            <a:r>
              <a:rPr lang="en-US" dirty="0"/>
              <a:t>Configuration management is key to DevOps success</a:t>
            </a:r>
            <a:endParaRPr lang="en-US" dirty="0"/>
          </a:p>
          <a:p>
            <a:r>
              <a:rPr lang="en-US" dirty="0"/>
              <a:t>Choosing the right tool depends on infrastructure needs</a:t>
            </a:r>
            <a:endParaRPr lang="en-US" dirty="0"/>
          </a:p>
          <a:p>
            <a:r>
              <a:rPr lang="en-US" dirty="0"/>
              <a:t>Automation reduces time and improves efficiency</a:t>
            </a:r>
            <a:endParaRPr lang="en-US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5733" y="2211414"/>
            <a:ext cx="10515600" cy="1846879"/>
          </a:xfrm>
        </p:spPr>
        <p:txBody>
          <a:bodyPr>
            <a:noAutofit/>
          </a:bodyPr>
          <a:lstStyle/>
          <a:p>
            <a:r>
              <a:rPr lang="en-IN" sz="96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Thank You!!!</a:t>
            </a:r>
            <a:br>
              <a:rPr lang="en-IN" sz="96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</a:br>
            <a:r>
              <a:rPr lang="en-IN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Happy to have any questions??</a:t>
            </a:r>
            <a:endParaRPr lang="en-IN" sz="2400" b="1" dirty="0">
              <a:ln w="9525">
                <a:solidFill>
                  <a:schemeClr val="bg1"/>
                </a:solidFill>
                <a:prstDash val="solid"/>
              </a:ln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TM04033921[[fn=Damask]]</Template>
  <TotalTime>0</TotalTime>
  <Words>1960</Words>
  <Application>WPS Presentation</Application>
  <PresentationFormat>Widescreen</PresentationFormat>
  <Paragraphs>95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2" baseType="lpstr">
      <vt:lpstr>Arial</vt:lpstr>
      <vt:lpstr>SimSun</vt:lpstr>
      <vt:lpstr>Wingdings</vt:lpstr>
      <vt:lpstr>Bookman Old Style</vt:lpstr>
      <vt:lpstr>Rockwell</vt:lpstr>
      <vt:lpstr>Microsoft YaHei</vt:lpstr>
      <vt:lpstr>Arial Unicode MS</vt:lpstr>
      <vt:lpstr>Calibri</vt:lpstr>
      <vt:lpstr>Damask</vt:lpstr>
      <vt:lpstr>DevOps  Configuration  Management  Tools </vt:lpstr>
      <vt:lpstr>Topics to BE COVERED HERE…</vt:lpstr>
      <vt:lpstr>Introduction to DevOps</vt:lpstr>
      <vt:lpstr>Infrastructure as Code Vs Configuration as Code</vt:lpstr>
      <vt:lpstr>What is Configuration Management?</vt:lpstr>
      <vt:lpstr>Importance of Configuration Management in DevOps</vt:lpstr>
      <vt:lpstr>Popular DevOps Configuration Management Tools</vt:lpstr>
      <vt:lpstr>Configuration Management as Code</vt:lpstr>
      <vt:lpstr>Chef - Architecture or Process</vt:lpstr>
      <vt:lpstr>Ansible - Architecture or Process</vt:lpstr>
      <vt:lpstr>Use Cases</vt:lpstr>
      <vt:lpstr>Conclusion</vt:lpstr>
      <vt:lpstr>Thank You!!! Happy to have any questions??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ANKITA NATH</dc:creator>
  <cp:lastModifiedBy>Arpita Nath</cp:lastModifiedBy>
  <cp:revision>24</cp:revision>
  <dcterms:created xsi:type="dcterms:W3CDTF">2025-02-06T14:35:00Z</dcterms:created>
  <dcterms:modified xsi:type="dcterms:W3CDTF">2025-03-04T14:31:10Z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8F7BEFB89D5B4EBC8957D1A0D1213AB7_13</vt:lpwstr>
  </property>
  <property fmtid="{D5CDD505-2E9C-101B-9397-08002B2CF9AE}" pid="3" name="KSOProductBuildVer">
    <vt:lpwstr>1033-12.2.0.19805</vt:lpwstr>
  </property>
</Properties>
</file>